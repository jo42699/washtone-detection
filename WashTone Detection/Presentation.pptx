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B7AE7A-9709-6981-3523-BCD19B9EAEC4}" v="5" dt="2026-04-09T23:34:56.861"/>
    <p1510:client id="{5AE61F00-770A-7046-DCDE-0FEA0C0F6B1A}" v="71" dt="2026-04-09T19:09:17.135"/>
    <p1510:client id="{85AD630D-CA0D-1EE2-C34A-015C46D606C5}" v="89" dt="2026-04-09T19:14:03.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2.xml"/><Relationship Id="rId5" Type="http://schemas.openxmlformats.org/officeDocument/2006/relationships/presProps" Target="presProps.xml"/><Relationship Id="rId10" Type="http://schemas.openxmlformats.org/officeDocument/2006/relationships/customXml" Target="../customXml/item1.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4/9/2026</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1045713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4/9/2026</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909408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4/9/2026</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134014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4/9/2026</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75106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4/9/2026</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687662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4/9/2026</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708087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4/9/2026</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610873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4/9/2026</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85159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5105400" y="838200"/>
            <a:ext cx="6249988" cy="51815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FigureOut">
              <a:rPr lang="en-US" dirty="0"/>
              <a:t>4/9/2026</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613792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4/9/2026</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2708404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4/9/2026</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69246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FigureOut">
              <a:rPr lang="en-US" dirty="0"/>
              <a:t>4/9/2026</a:t>
            </a:fld>
            <a:endParaRPr lang="en-US"/>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dirty="0"/>
              <a:t>‹#›</a:t>
            </a:fld>
            <a:endParaRPr lang="en-US"/>
          </a:p>
        </p:txBody>
      </p:sp>
    </p:spTree>
    <p:extLst>
      <p:ext uri="{BB962C8B-B14F-4D97-AF65-F5344CB8AC3E}">
        <p14:creationId xmlns:p14="http://schemas.microsoft.com/office/powerpoint/2010/main" val="447306341"/>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528">
          <p15:clr>
            <a:srgbClr val="F26B43"/>
          </p15:clr>
        </p15:guide>
        <p15:guide id="19" orient="horz" pos="2160">
          <p15:clr>
            <a:srgbClr val="F26B43"/>
          </p15:clr>
        </p15:guide>
        <p15:guide id="20"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1">
            <a:extLst>
              <a:ext uri="{FF2B5EF4-FFF2-40B4-BE49-F238E27FC236}">
                <a16:creationId xmlns:a16="http://schemas.microsoft.com/office/drawing/2014/main" id="{7A040E28-24B4-5D07-D921-B4D5C0EF62C8}"/>
              </a:ext>
            </a:extLst>
          </p:cNvPr>
          <p:cNvSpPr>
            <a:spLocks noGrp="1"/>
          </p:cNvSpPr>
          <p:nvPr>
            <p:ph type="dt" sz="half" idx="10"/>
          </p:nvPr>
        </p:nvSpPr>
        <p:spPr>
          <a:xfrm>
            <a:off x="340137" y="63202"/>
            <a:ext cx="2743200" cy="318221"/>
          </a:xfrm>
        </p:spPr>
        <p:txBody>
          <a:bodyPr/>
          <a:lstStyle/>
          <a:p>
            <a:pPr>
              <a:spcAft>
                <a:spcPts val="600"/>
              </a:spcAft>
            </a:pPr>
            <a:fld id="{9A8A2672-8EB4-41DA-940A-23A543624698}" type="datetime1">
              <a:pPr>
                <a:spcAft>
                  <a:spcPts val="600"/>
                </a:spcAft>
              </a:pPr>
              <a:t>4/9/2026</a:t>
            </a:fld>
            <a:endParaRPr lang="en-US"/>
          </a:p>
        </p:txBody>
      </p:sp>
      <p:sp>
        <p:nvSpPr>
          <p:cNvPr id="10" name="Footer Placeholder 2">
            <a:extLst>
              <a:ext uri="{FF2B5EF4-FFF2-40B4-BE49-F238E27FC236}">
                <a16:creationId xmlns:a16="http://schemas.microsoft.com/office/drawing/2014/main" id="{FA88BA6C-9B46-F195-2845-16032CB3B38B}"/>
              </a:ext>
            </a:extLst>
          </p:cNvPr>
          <p:cNvSpPr>
            <a:spLocks noGrp="1"/>
          </p:cNvSpPr>
          <p:nvPr>
            <p:ph type="ftr" sz="quarter" idx="11"/>
          </p:nvPr>
        </p:nvSpPr>
        <p:spPr>
          <a:xfrm>
            <a:off x="7344016" y="6424761"/>
            <a:ext cx="4059936" cy="365125"/>
          </a:xfrm>
        </p:spPr>
        <p:txBody>
          <a:bodyPr/>
          <a:lstStyle/>
          <a:p>
            <a:pPr>
              <a:spcAft>
                <a:spcPts val="600"/>
              </a:spcAft>
            </a:pPr>
            <a:r>
              <a:rPr lang="en-US"/>
              <a:t>
              </a:t>
            </a:r>
          </a:p>
        </p:txBody>
      </p:sp>
      <p:sp>
        <p:nvSpPr>
          <p:cNvPr id="12" name="Slide Number Placeholder 3">
            <a:extLst>
              <a:ext uri="{FF2B5EF4-FFF2-40B4-BE49-F238E27FC236}">
                <a16:creationId xmlns:a16="http://schemas.microsoft.com/office/drawing/2014/main" id="{E1CF619B-CA84-8E0B-153C-F6BCDDFC696D}"/>
              </a:ext>
            </a:extLst>
          </p:cNvPr>
          <p:cNvSpPr>
            <a:spLocks noGrp="1"/>
          </p:cNvSpPr>
          <p:nvPr>
            <p:ph type="sldNum" sz="quarter" idx="12"/>
          </p:nvPr>
        </p:nvSpPr>
        <p:spPr>
          <a:xfrm>
            <a:off x="11403951" y="6425816"/>
            <a:ext cx="429768" cy="365125"/>
          </a:xfrm>
        </p:spPr>
        <p:txBody>
          <a:bodyPr/>
          <a:lstStyle/>
          <a:p>
            <a:pPr>
              <a:spcAft>
                <a:spcPts val="600"/>
              </a:spcAft>
            </a:pPr>
            <a:fld id="{6E91CC32-6A6B-4E2E-BBA1-6864F305DA26}" type="slidenum">
              <a:rPr lang="en-US" dirty="0"/>
              <a:pPr>
                <a:spcAft>
                  <a:spcPts val="600"/>
                </a:spcAft>
              </a:pPr>
              <a:t>1</a:t>
            </a:fld>
            <a:endParaRPr lang="en-US"/>
          </a:p>
        </p:txBody>
      </p:sp>
      <p:pic>
        <p:nvPicPr>
          <p:cNvPr id="6" name="Picture 5">
            <a:extLst>
              <a:ext uri="{FF2B5EF4-FFF2-40B4-BE49-F238E27FC236}">
                <a16:creationId xmlns:a16="http://schemas.microsoft.com/office/drawing/2014/main" id="{01D74E71-3D34-FC45-5783-D004FE7F540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7F78B7D0-19F0-2801-9FB5-82E13D37A430}"/>
              </a:ext>
            </a:extLst>
          </p:cNvPr>
          <p:cNvSpPr>
            <a:spLocks noGrp="1"/>
          </p:cNvSpPr>
          <p:nvPr>
            <p:ph type="dt" sz="half" idx="10"/>
          </p:nvPr>
        </p:nvSpPr>
        <p:spPr/>
        <p:txBody>
          <a:bodyPr/>
          <a:lstStyle/>
          <a:p>
            <a:pPr>
              <a:spcAft>
                <a:spcPts val="600"/>
              </a:spcAft>
            </a:pPr>
            <a:fld id="{474AD685-B372-4CB7-98DF-22E128210292}" type="datetime1">
              <a:rPr lang="en-GB"/>
              <a:pPr>
                <a:spcAft>
                  <a:spcPts val="600"/>
                </a:spcAft>
              </a:pPr>
              <a:t>09/04/2026</a:t>
            </a:fld>
            <a:endParaRPr lang="en-GB"/>
          </a:p>
        </p:txBody>
      </p:sp>
      <p:sp>
        <p:nvSpPr>
          <p:cNvPr id="5" name="Footer Placeholder 4">
            <a:extLst>
              <a:ext uri="{FF2B5EF4-FFF2-40B4-BE49-F238E27FC236}">
                <a16:creationId xmlns:a16="http://schemas.microsoft.com/office/drawing/2014/main" id="{12DE1396-291C-A124-89BD-2383079B3229}"/>
              </a:ext>
            </a:extLst>
          </p:cNvPr>
          <p:cNvSpPr>
            <a:spLocks noGrp="1"/>
          </p:cNvSpPr>
          <p:nvPr>
            <p:ph type="ftr" sz="quarter" idx="11"/>
          </p:nvPr>
        </p:nvSpPr>
        <p:spPr/>
        <p:txBody>
          <a:bodyPr/>
          <a:lstStyle/>
          <a:p>
            <a:pPr>
              <a:spcAft>
                <a:spcPts val="600"/>
              </a:spcAft>
            </a:pPr>
            <a:r>
              <a:rPr lang="en-US"/>
              <a:t>
              </a:t>
            </a:r>
          </a:p>
        </p:txBody>
      </p:sp>
      <p:sp>
        <p:nvSpPr>
          <p:cNvPr id="6" name="Slide Number Placeholder 5" hidden="1">
            <a:extLst>
              <a:ext uri="{FF2B5EF4-FFF2-40B4-BE49-F238E27FC236}">
                <a16:creationId xmlns:a16="http://schemas.microsoft.com/office/drawing/2014/main" id="{DC63EED7-89D5-579E-2BB4-26F4DCB2C17E}"/>
              </a:ext>
            </a:extLst>
          </p:cNvPr>
          <p:cNvSpPr>
            <a:spLocks noGrp="1"/>
          </p:cNvSpPr>
          <p:nvPr>
            <p:ph type="sldNum" sz="quarter" idx="12"/>
          </p:nvPr>
        </p:nvSpPr>
        <p:spPr/>
        <p:txBody>
          <a:bodyPr/>
          <a:lstStyle/>
          <a:p>
            <a:pPr>
              <a:spcAft>
                <a:spcPts val="600"/>
              </a:spcAft>
            </a:pPr>
            <a:fld id="{6E91CC32-6A6B-4E2E-BBA1-6864F305DA26}" type="slidenum">
              <a:rPr lang="en-US" dirty="0"/>
              <a:pPr>
                <a:spcAft>
                  <a:spcPts val="600"/>
                </a:spcAft>
              </a:pPr>
              <a:t>2</a:t>
            </a:fld>
            <a:endParaRPr lang="en-US"/>
          </a:p>
        </p:txBody>
      </p:sp>
      <p:sp>
        <p:nvSpPr>
          <p:cNvPr id="10" name="Content Placeholder 9">
            <a:extLst>
              <a:ext uri="{FF2B5EF4-FFF2-40B4-BE49-F238E27FC236}">
                <a16:creationId xmlns:a16="http://schemas.microsoft.com/office/drawing/2014/main" id="{BC62525F-4551-296D-AFBB-E80AB3E7C1B9}"/>
              </a:ext>
            </a:extLst>
          </p:cNvPr>
          <p:cNvSpPr>
            <a:spLocks noGrp="1"/>
          </p:cNvSpPr>
          <p:nvPr>
            <p:ph idx="1"/>
          </p:nvPr>
        </p:nvSpPr>
        <p:spPr>
          <a:xfrm>
            <a:off x="7126" y="2199"/>
            <a:ext cx="12137430" cy="6781885"/>
          </a:xfrm>
        </p:spPr>
        <p:txBody>
          <a:bodyPr vert="horz" lIns="91440" tIns="45720" rIns="91440" bIns="45720" rtlCol="0" anchor="t">
            <a:normAutofit fontScale="92500" lnSpcReduction="20000"/>
          </a:bodyPr>
          <a:lstStyle/>
          <a:p>
            <a:r>
              <a:rPr lang="en-GB">
                <a:latin typeface="Modern No. 20"/>
              </a:rPr>
              <a:t>WASHTONE DETECTOR</a:t>
            </a:r>
          </a:p>
          <a:p>
            <a:r>
              <a:rPr lang="en-GB">
                <a:latin typeface="Calisto MT"/>
              </a:rPr>
              <a:t>Overview</a:t>
            </a:r>
            <a:endParaRPr lang="en-US"/>
          </a:p>
          <a:p>
            <a:r>
              <a:rPr lang="en-GB" dirty="0">
                <a:latin typeface="Calisto MT"/>
                <a:ea typeface="+mn-lt"/>
                <a:cs typeface="+mn-lt"/>
              </a:rPr>
              <a:t>This project is an audio-based fault detection application designed to identify anomalies in industrial machinery using sound analysis.</a:t>
            </a:r>
            <a:br>
              <a:rPr lang="en-GB" dirty="0">
                <a:latin typeface="Calisto MT"/>
                <a:ea typeface="+mn-lt"/>
                <a:cs typeface="+mn-lt"/>
              </a:rPr>
            </a:br>
            <a:r>
              <a:rPr lang="en-GB" dirty="0">
                <a:latin typeface="Calisto MT"/>
                <a:ea typeface="+mn-lt"/>
                <a:cs typeface="+mn-lt"/>
              </a:rPr>
              <a:t> The system enables non-invasive, scalable, and cost-effective monitoring, supporting predictive maintenance strategies.</a:t>
            </a:r>
            <a:endParaRPr lang="en-GB" dirty="0">
              <a:latin typeface="Calisto MT"/>
            </a:endParaRPr>
          </a:p>
          <a:p>
            <a:br>
              <a:rPr lang="en-US" dirty="0"/>
            </a:br>
            <a:endParaRPr lang="en-US" sz="2000">
              <a:latin typeface="Calisto MT"/>
            </a:endParaRPr>
          </a:p>
          <a:p>
            <a:r>
              <a:rPr lang="en-GB">
                <a:latin typeface="Calisto MT"/>
              </a:rPr>
              <a:t>Intended End User</a:t>
            </a:r>
          </a:p>
          <a:p>
            <a:r>
              <a:rPr lang="en-GB" dirty="0">
                <a:latin typeface="Calisto MT"/>
                <a:ea typeface="+mn-lt"/>
                <a:cs typeface="+mn-lt"/>
              </a:rPr>
              <a:t>The primary users are maintenance engineers working in industrial environments such as manufacturing plants.</a:t>
            </a:r>
            <a:br>
              <a:rPr lang="en-GB" dirty="0">
                <a:latin typeface="Calisto MT"/>
                <a:ea typeface="+mn-lt"/>
                <a:cs typeface="+mn-lt"/>
              </a:rPr>
            </a:br>
            <a:r>
              <a:rPr lang="en-GB" dirty="0">
                <a:latin typeface="Calisto MT"/>
                <a:ea typeface="+mn-lt"/>
                <a:cs typeface="+mn-lt"/>
              </a:rPr>
              <a:t> These users are responsible for monitoring equipment health and preventing unexpected failures.</a:t>
            </a:r>
            <a:endParaRPr lang="en-GB" dirty="0">
              <a:latin typeface="Calisto MT"/>
            </a:endParaRPr>
          </a:p>
          <a:p>
            <a:br>
              <a:rPr lang="en-US" dirty="0"/>
            </a:br>
            <a:endParaRPr lang="en-US" sz="2000">
              <a:latin typeface="Calisto MT"/>
            </a:endParaRPr>
          </a:p>
          <a:p>
            <a:r>
              <a:rPr lang="en-GB">
                <a:latin typeface="Calisto MT"/>
              </a:rPr>
              <a:t>Value Proposition</a:t>
            </a:r>
          </a:p>
          <a:p>
            <a:r>
              <a:rPr lang="en-GB" dirty="0">
                <a:latin typeface="Calisto MT"/>
                <a:ea typeface="+mn-lt"/>
                <a:cs typeface="+mn-lt"/>
              </a:rPr>
              <a:t>Non-invasive monitoring (no physical sensors required) </a:t>
            </a:r>
            <a:endParaRPr lang="en-GB" dirty="0">
              <a:latin typeface="Calisto MT"/>
            </a:endParaRPr>
          </a:p>
          <a:p>
            <a:r>
              <a:rPr lang="en-GB">
                <a:latin typeface="Calisto MT"/>
                <a:ea typeface="+mn-lt"/>
                <a:cs typeface="+mn-lt"/>
              </a:rPr>
              <a:t>Lower cost compared to vibration-based systems </a:t>
            </a:r>
            <a:endParaRPr lang="en-GB">
              <a:latin typeface="Calisto MT"/>
            </a:endParaRPr>
          </a:p>
          <a:p>
            <a:r>
              <a:rPr lang="en-GB">
                <a:latin typeface="Calisto MT"/>
                <a:ea typeface="+mn-lt"/>
                <a:cs typeface="+mn-lt"/>
              </a:rPr>
              <a:t>Scalable across multiple machines </a:t>
            </a:r>
            <a:endParaRPr lang="en-GB">
              <a:latin typeface="Calisto MT"/>
            </a:endParaRPr>
          </a:p>
          <a:p>
            <a:r>
              <a:rPr lang="en-GB">
                <a:latin typeface="Calisto MT"/>
                <a:ea typeface="+mn-lt"/>
                <a:cs typeface="+mn-lt"/>
              </a:rPr>
              <a:t>Enables early fault detection through acoustic anomalies </a:t>
            </a:r>
            <a:endParaRPr lang="en-GB">
              <a:latin typeface="Calisto MT"/>
            </a:endParaRPr>
          </a:p>
          <a:p>
            <a:r>
              <a:rPr lang="en-GB">
                <a:latin typeface="Calisto MT"/>
                <a:ea typeface="+mn-lt"/>
                <a:cs typeface="+mn-lt"/>
              </a:rPr>
              <a:t>Supports predictive maintenance and reduces downtime</a:t>
            </a:r>
            <a:endParaRPr lang="en-GB">
              <a:latin typeface="Calisto MT"/>
            </a:endParaRPr>
          </a:p>
          <a:p>
            <a:pPr marL="0" indent="0">
              <a:buNone/>
            </a:pPr>
            <a:endParaRPr lang="en-GB"/>
          </a:p>
        </p:txBody>
      </p:sp>
    </p:spTree>
    <p:extLst>
      <p:ext uri="{BB962C8B-B14F-4D97-AF65-F5344CB8AC3E}">
        <p14:creationId xmlns:p14="http://schemas.microsoft.com/office/powerpoint/2010/main" val="884102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4EBA40-D2E9-2186-291A-DD357E990D9A}"/>
              </a:ext>
            </a:extLst>
          </p:cNvPr>
          <p:cNvSpPr>
            <a:spLocks noGrp="1"/>
          </p:cNvSpPr>
          <p:nvPr>
            <p:ph type="title"/>
          </p:nvPr>
        </p:nvSpPr>
        <p:spPr>
          <a:xfrm>
            <a:off x="4827" y="45328"/>
            <a:ext cx="12183999" cy="6806166"/>
          </a:xfrm>
        </p:spPr>
        <p:txBody>
          <a:bodyPr>
            <a:normAutofit fontScale="90000"/>
          </a:bodyPr>
          <a:lstStyle/>
          <a:p>
            <a:r>
              <a:rPr lang="en-US" sz="2000">
                <a:latin typeface="Calisto MT"/>
              </a:rPr>
              <a:t>Features</a:t>
            </a:r>
            <a:br>
              <a:rPr lang="en-US" sz="2000" dirty="0">
                <a:latin typeface="Modern No. 20"/>
              </a:rPr>
            </a:br>
            <a:endParaRPr lang="en-US" sz="2000">
              <a:latin typeface="Modern No. 20"/>
            </a:endParaRPr>
          </a:p>
          <a:p>
            <a:r>
              <a:rPr lang="en-US" sz="2000" b="0">
                <a:latin typeface="Modern No. 20"/>
                <a:ea typeface="+mj-lt"/>
                <a:cs typeface="+mj-lt"/>
              </a:rPr>
              <a:t>Load and analyze audio files </a:t>
            </a:r>
            <a:endParaRPr lang="en-US" sz="2000">
              <a:latin typeface="Modern No. 20"/>
            </a:endParaRPr>
          </a:p>
          <a:p>
            <a:r>
              <a:rPr lang="en-US" sz="2000" b="0">
                <a:latin typeface="Modern No. 20"/>
                <a:ea typeface="+mj-lt"/>
                <a:cs typeface="+mj-lt"/>
              </a:rPr>
              <a:t>Playback functionality with volume control </a:t>
            </a:r>
            <a:endParaRPr lang="en-US" sz="2000">
              <a:latin typeface="Modern No. 20"/>
            </a:endParaRPr>
          </a:p>
          <a:p>
            <a:r>
              <a:rPr lang="en-US" sz="2000" b="0">
                <a:latin typeface="Modern No. 20"/>
                <a:ea typeface="+mj-lt"/>
                <a:cs typeface="+mj-lt"/>
              </a:rPr>
              <a:t>Real-time status, result, and scoring display </a:t>
            </a:r>
            <a:endParaRPr lang="en-US" sz="2000">
              <a:latin typeface="Modern No. 20"/>
            </a:endParaRPr>
          </a:p>
          <a:p>
            <a:r>
              <a:rPr lang="en-US" sz="2000">
                <a:latin typeface="Modern No. 20"/>
              </a:rPr>
              <a:t>Visualization tools</a:t>
            </a:r>
          </a:p>
          <a:p>
            <a:r>
              <a:rPr lang="en-US" sz="2000" b="0">
                <a:latin typeface="Modern No. 20"/>
                <a:ea typeface="+mj-lt"/>
                <a:cs typeface="+mj-lt"/>
              </a:rPr>
              <a:t>Waveform </a:t>
            </a:r>
            <a:endParaRPr lang="en-US" sz="2000">
              <a:latin typeface="Modern No. 20"/>
            </a:endParaRPr>
          </a:p>
          <a:p>
            <a:r>
              <a:rPr lang="en-US" sz="2000" b="0">
                <a:latin typeface="Modern No. 20"/>
                <a:ea typeface="+mj-lt"/>
                <a:cs typeface="+mj-lt"/>
              </a:rPr>
              <a:t>Spectrogram </a:t>
            </a:r>
            <a:endParaRPr lang="en-US" sz="2000">
              <a:latin typeface="Modern No. 20"/>
            </a:endParaRPr>
          </a:p>
          <a:p>
            <a:r>
              <a:rPr lang="en-US" sz="2000" b="0">
                <a:latin typeface="Modern No. 20"/>
                <a:ea typeface="+mj-lt"/>
                <a:cs typeface="+mj-lt"/>
              </a:rPr>
              <a:t>Frequency spectrum </a:t>
            </a:r>
            <a:br>
              <a:rPr lang="en-US" dirty="0">
                <a:latin typeface="Modern No. 20"/>
              </a:rPr>
            </a:br>
            <a:endParaRPr lang="en-US" sz="2000">
              <a:latin typeface="Modern No. 20"/>
            </a:endParaRPr>
          </a:p>
          <a:p>
            <a:r>
              <a:rPr lang="en-US" sz="2000">
                <a:latin typeface="Calisto MT"/>
              </a:rPr>
              <a:t>User Workflow</a:t>
            </a:r>
          </a:p>
          <a:p>
            <a:r>
              <a:rPr lang="en-US" sz="2000" b="0">
                <a:latin typeface="Modern No. 20"/>
                <a:ea typeface="+mj-lt"/>
                <a:cs typeface="+mj-lt"/>
              </a:rPr>
              <a:t>Open the application interface by clicking on app1.mlapp and run the app </a:t>
            </a:r>
            <a:endParaRPr lang="en-US" sz="2000">
              <a:latin typeface="Modern No. 20"/>
            </a:endParaRPr>
          </a:p>
          <a:p>
            <a:r>
              <a:rPr lang="en-US" sz="2000" b="0">
                <a:latin typeface="Modern No. 20"/>
                <a:ea typeface="+mj-lt"/>
                <a:cs typeface="+mj-lt"/>
              </a:rPr>
              <a:t>Load an audio file by clicking load audio file button </a:t>
            </a:r>
            <a:endParaRPr lang="en-US" sz="2000">
              <a:latin typeface="Modern No. 20"/>
            </a:endParaRPr>
          </a:p>
          <a:p>
            <a:r>
              <a:rPr lang="en-US" sz="2000" b="0">
                <a:latin typeface="Modern No. 20"/>
                <a:ea typeface="+mj-lt"/>
                <a:cs typeface="+mj-lt"/>
              </a:rPr>
              <a:t>Click the "Analyze" button </a:t>
            </a:r>
            <a:endParaRPr lang="en-US" sz="2000">
              <a:latin typeface="Modern No. 20"/>
            </a:endParaRPr>
          </a:p>
          <a:p>
            <a:r>
              <a:rPr lang="en-US" sz="2000" b="0">
                <a:latin typeface="Modern No. 20"/>
                <a:ea typeface="+mj-lt"/>
                <a:cs typeface="+mj-lt"/>
              </a:rPr>
              <a:t>View results and system status </a:t>
            </a:r>
            <a:endParaRPr lang="en-US" sz="2000">
              <a:latin typeface="Modern No. 20"/>
            </a:endParaRPr>
          </a:p>
          <a:p>
            <a:r>
              <a:rPr lang="en-US" sz="2000" b="0">
                <a:latin typeface="Modern No. 20"/>
                <a:ea typeface="+mj-lt"/>
                <a:cs typeface="+mj-lt"/>
              </a:rPr>
              <a:t>Playback audio if needed </a:t>
            </a:r>
            <a:endParaRPr lang="en-US" sz="2000">
              <a:latin typeface="Modern No. 20"/>
            </a:endParaRPr>
          </a:p>
          <a:p>
            <a:r>
              <a:rPr lang="en-US" sz="2000" b="0">
                <a:latin typeface="Modern No. 20"/>
                <a:ea typeface="+mj-lt"/>
                <a:cs typeface="+mj-lt"/>
              </a:rPr>
              <a:t>Adjust volume using the sidebar </a:t>
            </a:r>
            <a:endParaRPr lang="en-US" sz="2000">
              <a:latin typeface="Modern No. 20"/>
            </a:endParaRPr>
          </a:p>
          <a:p>
            <a:r>
              <a:rPr lang="en-US" sz="2000" b="0">
                <a:latin typeface="Modern No. 20"/>
                <a:ea typeface="+mj-lt"/>
                <a:cs typeface="+mj-lt"/>
              </a:rPr>
              <a:t>Review score and detection output </a:t>
            </a:r>
            <a:endParaRPr lang="en-US" sz="2000">
              <a:latin typeface="Modern No. 20"/>
            </a:endParaRPr>
          </a:p>
          <a:p>
            <a:r>
              <a:rPr lang="en-US" sz="2000" b="0">
                <a:latin typeface="Modern No. 20"/>
                <a:ea typeface="+mj-lt"/>
                <a:cs typeface="+mj-lt"/>
              </a:rPr>
              <a:t>Select visualization type from dropdown </a:t>
            </a:r>
            <a:br>
              <a:rPr lang="en-US" dirty="0">
                <a:latin typeface="Modern No. 20"/>
              </a:rPr>
            </a:br>
            <a:endParaRPr lang="en-US" sz="2000">
              <a:latin typeface="Modern No. 20"/>
            </a:endParaRPr>
          </a:p>
          <a:p>
            <a:r>
              <a:rPr lang="en-US" sz="2000">
                <a:latin typeface="Modern No. 20"/>
              </a:rPr>
              <a:t>Technical Stack</a:t>
            </a:r>
          </a:p>
          <a:p>
            <a:r>
              <a:rPr lang="en-US" sz="2000" b="0">
                <a:latin typeface="Modern No. 20"/>
                <a:ea typeface="+mj-lt"/>
                <a:cs typeface="+mj-lt"/>
              </a:rPr>
              <a:t>Audio Processing: MATLAB </a:t>
            </a:r>
            <a:endParaRPr lang="en-US" sz="2000">
              <a:latin typeface="Modern No. 20"/>
            </a:endParaRPr>
          </a:p>
          <a:p>
            <a:r>
              <a:rPr lang="en-US" sz="2000" b="0">
                <a:latin typeface="Modern No. 20"/>
                <a:ea typeface="+mj-lt"/>
                <a:cs typeface="+mj-lt"/>
              </a:rPr>
              <a:t>Machine Learning: Classification Learner </a:t>
            </a:r>
            <a:endParaRPr lang="en-US" sz="2000">
              <a:latin typeface="Modern No. 20"/>
            </a:endParaRPr>
          </a:p>
          <a:p>
            <a:r>
              <a:rPr lang="en-US" sz="2000" b="0">
                <a:latin typeface="Modern No. 20"/>
                <a:ea typeface="+mj-lt"/>
                <a:cs typeface="+mj-lt"/>
              </a:rPr>
              <a:t>Frontend: MATLAB app builder </a:t>
            </a:r>
            <a:endParaRPr lang="en-US" sz="2000">
              <a:latin typeface="Modern No. 20"/>
            </a:endParaRPr>
          </a:p>
          <a:p>
            <a:r>
              <a:rPr lang="en-US" sz="2000" b="0">
                <a:latin typeface="Modern No. 20"/>
                <a:ea typeface="+mj-lt"/>
                <a:cs typeface="+mj-lt"/>
              </a:rPr>
              <a:t>Visualization: Matplotlib </a:t>
            </a:r>
            <a:endParaRPr lang="en-US" sz="2000">
              <a:latin typeface="Modern No. 20"/>
            </a:endParaRPr>
          </a:p>
          <a:p>
            <a:br>
              <a:rPr lang="en-US" dirty="0"/>
            </a:br>
            <a:endParaRPr lang="en-US" sz="2000"/>
          </a:p>
          <a:p>
            <a:endParaRPr lang="en-US" sz="2000"/>
          </a:p>
          <a:p>
            <a:br>
              <a:rPr lang="en-US" dirty="0"/>
            </a:br>
            <a:endParaRPr lang="en-US" sz="2000"/>
          </a:p>
          <a:p>
            <a:endParaRPr lang="en-US" sz="2000"/>
          </a:p>
        </p:txBody>
      </p:sp>
      <p:sp>
        <p:nvSpPr>
          <p:cNvPr id="4" name="Date Placeholder 3">
            <a:extLst>
              <a:ext uri="{FF2B5EF4-FFF2-40B4-BE49-F238E27FC236}">
                <a16:creationId xmlns:a16="http://schemas.microsoft.com/office/drawing/2014/main" id="{493FFFDD-7D77-6CB2-0D1B-92857C478452}"/>
              </a:ext>
            </a:extLst>
          </p:cNvPr>
          <p:cNvSpPr>
            <a:spLocks noGrp="1"/>
          </p:cNvSpPr>
          <p:nvPr>
            <p:ph type="dt" sz="half" idx="10"/>
          </p:nvPr>
        </p:nvSpPr>
        <p:spPr>
          <a:xfrm>
            <a:off x="340137" y="63202"/>
            <a:ext cx="2743200" cy="318221"/>
          </a:xfrm>
        </p:spPr>
        <p:txBody>
          <a:bodyPr anchor="ctr">
            <a:normAutofit/>
          </a:bodyPr>
          <a:lstStyle/>
          <a:p>
            <a:pPr>
              <a:spcAft>
                <a:spcPts val="600"/>
              </a:spcAft>
            </a:pPr>
            <a:fld id="{7C46ABB4-4A77-4719-A437-703B08F46C57}" type="datetime1">
              <a:pPr>
                <a:spcAft>
                  <a:spcPts val="600"/>
                </a:spcAft>
              </a:pPr>
              <a:t>4/9/2026</a:t>
            </a:fld>
            <a:endParaRPr lang="en-US"/>
          </a:p>
        </p:txBody>
      </p:sp>
      <p:sp>
        <p:nvSpPr>
          <p:cNvPr id="5" name="Footer Placeholder 4">
            <a:extLst>
              <a:ext uri="{FF2B5EF4-FFF2-40B4-BE49-F238E27FC236}">
                <a16:creationId xmlns:a16="http://schemas.microsoft.com/office/drawing/2014/main" id="{14EF0313-D9DA-4DE2-BA77-42155AA9317B}"/>
              </a:ext>
            </a:extLst>
          </p:cNvPr>
          <p:cNvSpPr>
            <a:spLocks noGrp="1"/>
          </p:cNvSpPr>
          <p:nvPr>
            <p:ph type="ftr" sz="quarter" idx="11"/>
          </p:nvPr>
        </p:nvSpPr>
        <p:spPr>
          <a:xfrm>
            <a:off x="7344016" y="6424761"/>
            <a:ext cx="4059936"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CC2DBB3F-6068-2A8E-C6BC-95BE3FF090B3}"/>
              </a:ext>
            </a:extLst>
          </p:cNvPr>
          <p:cNvSpPr>
            <a:spLocks noGrp="1"/>
          </p:cNvSpPr>
          <p:nvPr>
            <p:ph type="sldNum" sz="quarter" idx="12"/>
          </p:nvPr>
        </p:nvSpPr>
        <p:spPr>
          <a:xfrm>
            <a:off x="11403951" y="6425816"/>
            <a:ext cx="429768" cy="365125"/>
          </a:xfrm>
        </p:spPr>
        <p:txBody>
          <a:bodyPr anchor="ctr">
            <a:normAutofit/>
          </a:bodyPr>
          <a:lstStyle/>
          <a:p>
            <a:pPr>
              <a:spcAft>
                <a:spcPts val="600"/>
              </a:spcAft>
            </a:pPr>
            <a:fld id="{6E91CC32-6A6B-4E2E-BBA1-6864F305DA26}" type="slidenum">
              <a:rPr lang="en-US" dirty="0"/>
              <a:pPr>
                <a:spcAft>
                  <a:spcPts val="600"/>
                </a:spcAft>
              </a:pPr>
              <a:t>3</a:t>
            </a:fld>
            <a:endParaRPr lang="en-US"/>
          </a:p>
        </p:txBody>
      </p:sp>
    </p:spTree>
    <p:extLst>
      <p:ext uri="{BB962C8B-B14F-4D97-AF65-F5344CB8AC3E}">
        <p14:creationId xmlns:p14="http://schemas.microsoft.com/office/powerpoint/2010/main" val="2898764510"/>
      </p:ext>
    </p:extLst>
  </p:cSld>
  <p:clrMapOvr>
    <a:masterClrMapping/>
  </p:clrMapOvr>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4B7BC4A1B71E44E816651C6B18F1A18" ma:contentTypeVersion="20" ma:contentTypeDescription="Create a new document." ma:contentTypeScope="" ma:versionID="64c08bd9c920907186c5239270349c20">
  <xsd:schema xmlns:xsd="http://www.w3.org/2001/XMLSchema" xmlns:xs="http://www.w3.org/2001/XMLSchema" xmlns:p="http://schemas.microsoft.com/office/2006/metadata/properties" xmlns:ns3="299a85ea-7e96-4bcc-be07-a28d23f4b5b4" targetNamespace="http://schemas.microsoft.com/office/2006/metadata/properties" ma:root="true" ma:fieldsID="43d1ad65f72bec1d4a250e0edfa76a57" ns3:_="">
    <xsd:import namespace="299a85ea-7e96-4bcc-be07-a28d23f4b5b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Location" minOccurs="0"/>
                <xsd:element ref="ns3:MediaServiceGenerationTime" minOccurs="0"/>
                <xsd:element ref="ns3:MediaServiceAutoTags" minOccurs="0"/>
                <xsd:element ref="ns3:MediaServiceOCR" minOccurs="0"/>
                <xsd:element ref="ns3:UserAddedTags" minOccurs="0"/>
                <xsd:element ref="ns3:UserDeletedSystemTags" minOccurs="0"/>
                <xsd:element ref="ns3:OriginalHash" minOccurs="0"/>
                <xsd:element ref="ns3:TagListTags" minOccurs="0"/>
                <xsd:element ref="ns3:DeletedSystemTags" minOccurs="0"/>
                <xsd:element ref="ns3:RecognizedEntities" minOccurs="0"/>
                <xsd:element ref="ns3:MediaServiceSearchProperties" minOccurs="0"/>
                <xsd:element ref="ns3:MediaServiceEventHashCode" minOccurs="0"/>
                <xsd:element ref="ns3:MediaServicePhotoCategory" minOccurs="0"/>
                <xsd:element ref="ns3:MediaServiceObjectDetectorVersions" minOccurs="0"/>
                <xsd:element ref="ns3:MediaServiceSystemTags" minOccurs="0"/>
                <xsd:element ref="ns3:MediaServiceOCR1"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9a85ea-7e96-4bcc-be07-a28d23f4b5b4" elementFormDefault="qualified">
    <xsd:import namespace="http://schemas.microsoft.com/office/2006/documentManagement/types"/>
    <xsd:import namespace="http://schemas.microsoft.com/office/infopath/2007/PartnerControls"/>
    <xsd:element name="MediaServiceMetadata" ma:index="8" nillable="true" ma:displayName="MediaServiceMetadata" ma:internalName="MediaServiceMetadata" ma:readOnly="true">
      <xsd:simpleType>
        <xsd:restriction base="dms:Note">
          <xsd:maxLength value="255"/>
        </xsd:restriction>
      </xsd:simpleType>
    </xsd:element>
    <xsd:element name="MediaServiceFastMetadata" ma:index="9" nillable="true" ma:displayName="MediaServiceFastMetadata" ma:internalName="MediaServiceFastMetadata" ma:readOnly="true">
      <xsd:simpleType>
        <xsd:restriction base="dms:Note">
          <xsd:maxLength value="255"/>
        </xsd:restriction>
      </xsd:simpleType>
    </xsd:element>
    <xsd:element name="MediaServiceDateTaken" ma:index="10" nillable="true" ma:displayName="MediaServiceDateTaken" ma:internalName="MediaServiceDateTaken" ma:readOnly="true">
      <xsd:simpleType>
        <xsd:restriction base="dms:Text"/>
      </xsd:simpleType>
    </xsd:element>
    <xsd:element name="MediaServiceLocation" ma:index="11" nillable="true" ma:displayName="Location" ma:internalName="MediaServiceLocation" ma:readOnly="true">
      <xsd:simpleType>
        <xsd:restriction base="dms:Text"/>
      </xsd:simpleType>
    </xsd:element>
    <xsd:element name="MediaServiceGenerationTime" ma:index="12" nillable="true" ma:displayName="MediaServiceGenerationTime" ma:internalName="MediaServiceGenerationTime"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UserAddedTags" ma:index="15" nillable="true" ma:displayName="UserAddedTags" ma:internalName="UserAddedTags">
      <xsd:simpleType>
        <xsd:restriction base="dms:Note">
          <xsd:maxLength value="255"/>
        </xsd:restriction>
      </xsd:simpleType>
    </xsd:element>
    <xsd:element name="UserDeletedSystemTags" ma:index="16" nillable="true" ma:displayName="UserDeletedSystemTags" ma:internalName="UserDeletedSystemTags">
      <xsd:simpleType>
        <xsd:restriction base="dms:Note">
          <xsd:maxLength value="255"/>
        </xsd:restriction>
      </xsd:simpleType>
    </xsd:element>
    <xsd:element name="OriginalHash" ma:index="17" nillable="true" ma:displayName="OriginalHash" ma:internalName="OriginalHash">
      <xsd:simpleType>
        <xsd:restriction base="dms:Note">
          <xsd:maxLength value="255"/>
        </xsd:restriction>
      </xsd:simpleType>
    </xsd:element>
    <xsd:element name="TagListTags" ma:index="18" nillable="true" ma:displayName="TagListTags" ma:hidden="true" ma:list="446cd611-1f3d-483f-b670-88a112f1fae9" ma:internalName="TagListTags" ma:showField="Title">
      <xsd:complexType>
        <xsd:complexContent>
          <xsd:extension base="dms:MultiChoiceLookup">
            <xsd:sequence>
              <xsd:element name="Value" type="dms:Lookup" maxOccurs="unbounded" minOccurs="0" nillable="true"/>
            </xsd:sequence>
          </xsd:extension>
        </xsd:complexContent>
      </xsd:complexType>
    </xsd:element>
    <xsd:element name="DeletedSystemTags" ma:index="19" nillable="true" ma:displayName="DeletedSystemTags" ma:hidden="true" ma:list="446cd611-1f3d-483f-b670-88a112f1fae9" ma:internalName="DeletedSystemTags" ma:showField="Title">
      <xsd:complexType>
        <xsd:complexContent>
          <xsd:extension base="dms:MultiChoiceLookup">
            <xsd:sequence>
              <xsd:element name="Value" type="dms:Lookup" maxOccurs="unbounded" minOccurs="0" nillable="true"/>
            </xsd:sequence>
          </xsd:extension>
        </xsd:complexContent>
      </xsd:complexType>
    </xsd:element>
    <xsd:element name="RecognizedEntities" ma:index="20" nillable="true" ma:displayName="RecognizedEntities" ma:hidden="true" ma:list="a0162f88-9a8f-4f58-995b-67d96184883b" ma:internalName="RecognizedEntities" ma:showField="RecognizedEntityId">
      <xsd:complexType>
        <xsd:complexContent>
          <xsd:extension base="dms:MultiChoiceLookup">
            <xsd:sequence>
              <xsd:element name="Value" type="dms:Lookup" maxOccurs="unbounded" minOccurs="0" nillable="true"/>
            </xsd:sequence>
          </xsd:extension>
        </xsd:complexContent>
      </xsd:complex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PhotoCategory" ma:index="23" nillable="true" ma:displayName="MediaServicePhotoCategory" ma:hidden="true" ma:indexed="true" ma:internalName="MediaServicePhotoCategory"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OCR1" ma:index="26" nillable="true" ma:displayName="Extracted Text" ma:description="" ma:internalName="MediaServiceOCR0" ma:readOnly="true">
      <xsd:simpleType>
        <xsd:restriction base="dms:Note">
          <xsd:maxLength value="255"/>
        </xsd:restriction>
      </xsd:simpleType>
    </xsd:element>
    <xsd:element name="MediaLengthInSeconds" ma:index="2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gListTags xmlns="299a85ea-7e96-4bcc-be07-a28d23f4b5b4" xsi:nil="true"/>
    <UserAddedTags xmlns="299a85ea-7e96-4bcc-be07-a28d23f4b5b4" xsi:nil="true"/>
    <RecognizedEntities xmlns="299a85ea-7e96-4bcc-be07-a28d23f4b5b4" xsi:nil="true"/>
    <DeletedSystemTags xmlns="299a85ea-7e96-4bcc-be07-a28d23f4b5b4" xsi:nil="true"/>
    <UserDeletedSystemTags xmlns="299a85ea-7e96-4bcc-be07-a28d23f4b5b4" xsi:nil="true"/>
    <OriginalHash xmlns="299a85ea-7e96-4bcc-be07-a28d23f4b5b4" xsi:nil="true"/>
  </documentManagement>
</p:properties>
</file>

<file path=customXml/itemProps1.xml><?xml version="1.0" encoding="utf-8"?>
<ds:datastoreItem xmlns:ds="http://schemas.openxmlformats.org/officeDocument/2006/customXml" ds:itemID="{390C4E00-AEAF-4802-84A2-3958421BB0E7}"/>
</file>

<file path=customXml/itemProps2.xml><?xml version="1.0" encoding="utf-8"?>
<ds:datastoreItem xmlns:ds="http://schemas.openxmlformats.org/officeDocument/2006/customXml" ds:itemID="{05F29C1B-F10D-4080-9DE9-A46355A21E86}"/>
</file>

<file path=customXml/itemProps3.xml><?xml version="1.0" encoding="utf-8"?>
<ds:datastoreItem xmlns:ds="http://schemas.openxmlformats.org/officeDocument/2006/customXml" ds:itemID="{3075C5F1-FE69-4A8A-B17B-8B03F9B1E24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Slides>
  <Notes>0</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DylanVTI</vt:lpstr>
      <vt:lpstr>PowerPoint Presentation</vt:lpstr>
      <vt:lpstr>PowerPoint Presentation</vt:lpstr>
      <vt:lpstr>Features  Load and analyze audio files  Playback functionality with volume control  Real-time status, result, and scoring display  Visualization tools Waveform  Spectrogram  Frequency spectrum   User Workflow Open the application interface by clicking on app1.mlapp and run the app  Load an audio file by clicking load audio file button  Click the "Analyze" button  View results and system status  Playback audio if needed  Adjust volume using the sidebar  Review score and detection output  Select visualization type from dropdown   Technical Stack Audio Processing: MATLAB  Machine Learning: Classification Learner  Frontend: MATLAB app builder  Visualization: Matplotlib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7</cp:revision>
  <dcterms:created xsi:type="dcterms:W3CDTF">2026-04-09T18:00:57Z</dcterms:created>
  <dcterms:modified xsi:type="dcterms:W3CDTF">2026-04-09T23:37:24Z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0x01010064B7BC4A1B71E44E816651C6B18F1A18</vt:lpwstr>
  </property>
</Properties>
</file>